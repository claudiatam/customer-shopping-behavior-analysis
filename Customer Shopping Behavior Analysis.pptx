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86991" y="1224930"/>
            <a:ext cx="55700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Shopping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055686" y="2063130"/>
            <a:ext cx="50326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 Analysis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908739" y="3053730"/>
            <a:ext cx="532644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Insights &amp; Strategic Recommendations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66467" y="3678510"/>
            <a:ext cx="4610991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3,900 Transactions | 18 Features | Comprehensive Analysis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325835"/>
            <a:ext cx="7620000" cy="169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Identify patterns in customer spending, segmentation, and preferences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3,900 transactions across multiple product categories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Analyzed: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Customer demographics, transaction details, behavioral metrics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Used: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Python, BigQuery, Power BI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Preparation with Python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2114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cleaning: Missing value imputation (37 null Review Ratings)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column naming to snake_case format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engineering: Age grouping, purchase frequency calculation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redundant promo_code_used column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Migrated cleaned data to BigQuery for advanced analysis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Gender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Significant untapped opportunity in female segment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2213670"/>
            <a:ext cx="3781053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</a:t>
            </a:r>
            <a:endParaRPr lang="en-US" sz="1350" dirty="0"/>
          </a:p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$157.9K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619253" y="3213795"/>
            <a:ext cx="1795983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</a:t>
            </a:r>
            <a:endParaRPr lang="en-US" sz="1350" dirty="0"/>
          </a:p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$75.2K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643836" y="3429149"/>
            <a:ext cx="1928375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2.1x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643836" y="3932039"/>
            <a:ext cx="192837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gap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09600" y="4347270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Female segment expansion could add $30-40K annual revenue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Top-Performing Products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customer review ratings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91580"/>
            <a:ext cx="7620000" cy="1268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Gloves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3.86★ | </a:t>
            </a:r>
            <a:pPr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Sandals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3.84★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3.82★ | </a:t>
            </a:r>
            <a:pPr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3.80★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Handbag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3.78★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Discount-Reliant Products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proportion of discounted sales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91580"/>
            <a:ext cx="7620000" cy="1268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50.0% | </a:t>
            </a:r>
            <a:pPr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Sneakers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49.66%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Coat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49.07% | </a:t>
            </a:r>
            <a:pPr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Sweater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48.17%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Pants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47.37%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36404" y="2428875"/>
            <a:ext cx="1800076" cy="952500"/>
          </a:xfrm>
          <a:prstGeom prst="roundRect">
            <a:avLst>
              <a:gd name="adj" fmla="val 76800"/>
            </a:avLst>
          </a:prstGeom>
          <a:solidFill>
            <a:srgbClr val="38BDF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Loyal: 3,116 (79.9%)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12680" y="2428875"/>
            <a:ext cx="683642" cy="952500"/>
          </a:xfrm>
          <a:prstGeom prst="roundRect">
            <a:avLst>
              <a:gd name="adj" fmla="val 107003"/>
            </a:avLst>
          </a:prstGeom>
          <a:solidFill>
            <a:srgbClr val="0284C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72522" y="2428875"/>
            <a:ext cx="235074" cy="952500"/>
          </a:xfrm>
          <a:prstGeom prst="roundRect">
            <a:avLst>
              <a:gd name="adj" fmla="val 311187"/>
            </a:avLst>
          </a:prstGeom>
          <a:solidFill>
            <a:srgbClr val="06B6D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Lifecycle Segmentation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09600" y="12496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80% base is Loyal—maximize retention &amp; subscription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12680" y="2428875"/>
            <a:ext cx="683642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Returning</a:t>
            </a:r>
            <a:endParaRPr lang="en-US" sz="1140" dirty="0"/>
          </a:p>
          <a:p>
            <a:pPr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701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5772522" y="2428875"/>
            <a:ext cx="235074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9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09600" y="4347270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Loyal customers represent core revenue base—subscription upsell opportunity for 73% of repeat buyers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69779" y="1691580"/>
            <a:ext cx="2204442" cy="184651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64793" y="3766691"/>
            <a:ext cx="3414340" cy="1884611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Opportunity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12496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Equal spending behavior, but massive adoption gap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98379" y="1920180"/>
            <a:ext cx="1782187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Subscribers (27%)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3698379" y="2237184"/>
            <a:ext cx="178218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1,053 customers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98379" y="2500015"/>
            <a:ext cx="178218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spend: $59.49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98379" y="2686645"/>
            <a:ext cx="178218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Revenue: $62,645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98379" y="3025676"/>
            <a:ext cx="1747242" cy="283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pool—focus on conversion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112443" y="4014341"/>
            <a:ext cx="2977421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Non-Subscribers (73%)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3112443" y="4331345"/>
            <a:ext cx="297742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2,847 customers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112443" y="4594175"/>
            <a:ext cx="297742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spend: $59.87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112443" y="4780806"/>
            <a:ext cx="297742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Revenue: $170,436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112443" y="5119836"/>
            <a:ext cx="2919040" cy="283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HUGE upside—25-40% conversion = $15-25K revenue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Age Group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69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 Adult: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$62,143 (highest contributor)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Middle-aged: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$59,197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Adult: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$55,978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$55,763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Leaders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most-purchased items per category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15380"/>
            <a:ext cx="7620000" cy="1268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Accessories: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Jewelry (171) | Belt (161) | Sunglasses (161)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Clothing: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Pants (171) | Blouse (171) | Shirt (169)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Footwear: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Sandals (160) | Shoes (150)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15380"/>
            <a:ext cx="1823368" cy="166412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431902"/>
            <a:ext cx="1898228" cy="166412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5248424"/>
            <a:ext cx="1823368" cy="166412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Revenue-Driving Combinations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09600" y="12496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inventory &amp; promotion on these high-performers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200" y="1843980"/>
            <a:ext cx="13934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🥇 HIGHEST REVENUE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38200" y="2118271"/>
            <a:ext cx="1393491" cy="246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44"/>
              </a:lnSpc>
              <a:buNone/>
            </a:pPr>
            <a:r>
              <a:rPr lang="en-US" sz="16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Clothing M</a:t>
            </a:r>
            <a:endParaRPr lang="en-US" sz="1620" dirty="0"/>
          </a:p>
        </p:txBody>
      </p:sp>
      <p:sp>
        <p:nvSpPr>
          <p:cNvPr id="9" name="Text 7"/>
          <p:cNvSpPr/>
          <p:nvPr/>
        </p:nvSpPr>
        <p:spPr>
          <a:xfrm>
            <a:off x="838200" y="2441377"/>
            <a:ext cx="1393491" cy="373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$47,041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38200" y="2890912"/>
            <a:ext cx="13934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28.1% of category revenue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38200" y="3660502"/>
            <a:ext cx="14698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🥈 SECOND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8200" y="3934792"/>
            <a:ext cx="1469849" cy="246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44"/>
              </a:lnSpc>
              <a:buNone/>
            </a:pPr>
            <a:r>
              <a:rPr lang="en-US" sz="16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Accessories M</a:t>
            </a:r>
            <a:endParaRPr lang="en-US" sz="1620" dirty="0"/>
          </a:p>
        </p:txBody>
      </p:sp>
      <p:sp>
        <p:nvSpPr>
          <p:cNvPr id="13" name="Text 11"/>
          <p:cNvSpPr/>
          <p:nvPr/>
        </p:nvSpPr>
        <p:spPr>
          <a:xfrm>
            <a:off x="838200" y="4257898"/>
            <a:ext cx="1469849" cy="373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$33,299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38200" y="4707434"/>
            <a:ext cx="14698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of category revenue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38200" y="5477024"/>
            <a:ext cx="13934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🥉 THIRD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8200" y="5751314"/>
            <a:ext cx="1393491" cy="246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44"/>
              </a:lnSpc>
              <a:buNone/>
            </a:pPr>
            <a:r>
              <a:rPr lang="en-US" sz="16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Clothing L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838200" y="6074420"/>
            <a:ext cx="1393491" cy="373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$27,864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38200" y="6523955"/>
            <a:ext cx="13934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16.7% of category revenue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15380"/>
            <a:ext cx="7924800" cy="1795239"/>
          </a:xfrm>
          <a:prstGeom prst="roundRect">
            <a:avLst>
              <a:gd name="adj" fmla="val 40748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563020"/>
            <a:ext cx="7924800" cy="1442368"/>
          </a:xfrm>
          <a:prstGeom prst="roundRect">
            <a:avLst>
              <a:gd name="adj" fmla="val 50717"/>
            </a:avLst>
          </a:prstGeom>
          <a:solidFill>
            <a:srgbClr val="020617"/>
          </a:solidFill>
          <a:ln w="19050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1: Unlock Subscription Value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11734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73% of repeat buyers remain unsubscribed despite loyalty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6300" y="1843980"/>
            <a:ext cx="7578090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76300" y="2133526"/>
            <a:ext cx="7429500" cy="934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Loyal (3,116) &amp; Returning (701) with membership benefits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Emphasize frequency rewards, not just per-order discounts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tiered tiers with exclusive member perks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857250" y="3810670"/>
            <a:ext cx="7578090" cy="234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8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Expected Impact: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857250" y="4121572"/>
            <a:ext cx="7578090" cy="373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25-40% conversion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57250" y="4571107"/>
            <a:ext cx="757809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$15-25K incremental annual revenue from 2,847 non-subscribers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26816"/>
            <a:ext cx="7924800" cy="1795239"/>
          </a:xfrm>
          <a:prstGeom prst="roundRect">
            <a:avLst>
              <a:gd name="adj" fmla="val 40748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974455"/>
            <a:ext cx="7924800" cy="1442368"/>
          </a:xfrm>
          <a:prstGeom prst="roundRect">
            <a:avLst>
              <a:gd name="adj" fmla="val 50717"/>
            </a:avLst>
          </a:prstGeom>
          <a:solidFill>
            <a:srgbClr val="020617"/>
          </a:solidFill>
          <a:ln w="19050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792480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2: Protect Margins on Discounts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1584871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Hat, Sneakers, Coat, Sweater, Pants all discounted 47-50%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6300" y="2255416"/>
            <a:ext cx="7578090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76300" y="2544961"/>
            <a:ext cx="7429500" cy="934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gradual reduction of discount depth on proven sellers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price cuts with value-adds: bundles, loyalty points, free shipping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price increases on key SKUs to normalize expectations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857250" y="4222105"/>
            <a:ext cx="7578090" cy="234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8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Expected Impact: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857250" y="4533007"/>
            <a:ext cx="7578090" cy="373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3-5% margin improvement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57250" y="4982542"/>
            <a:ext cx="757809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volume while protecting profitability on 5 key products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Products Drive Sales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High-rated products + category leaders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15380"/>
            <a:ext cx="7620000" cy="1268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top SKUs in banners, emails, recommendations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bundled offerings with complementary items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Impact: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15-20% sales uplift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&amp; Demographic Precision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Revenue efficiency varies by location and age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15380"/>
            <a:ext cx="7620000" cy="1268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localized campaigns in high-efficiency states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age-cohort-specific messaging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Impact: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20-30% CAC reduction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Monetize Express Shipping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Express users show 3.5% higher AOV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15380"/>
            <a:ext cx="7620000" cy="1268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premium products with Express delivery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"fast-track" loyalty tier with exclusive benefits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Impact: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2-3% incremental AOV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Rebalance Gender Revenue Mix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Male revenue is 2.1x female revenue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15380"/>
            <a:ext cx="7620000" cy="1268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female-focused product assortment and gaps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targeted female campaigns with influencers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Impact: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$30-40k annual revenue growth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4014" y="1750740"/>
            <a:ext cx="2495897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982239" y="2527920"/>
            <a:ext cx="117952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016761" y="3152701"/>
            <a:ext cx="3110478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insights for business growth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2026-02-19T14:48:53Z</dcterms:created>
  <dcterms:modified xsi:type="dcterms:W3CDTF">2026-02-19T14:48:53Z</dcterms:modified>
</cp:coreProperties>
</file>